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DIAGNÓSTICO INTEGRAL DE SEGURIDAD HUMANA</a:t>
            </a:r>
          </a:p>
          <a:p>
            <a:pPr>
              <a:defRPr sz="2000">
                <a:solidFill>
                  <a:srgbClr val="00A6A0"/>
                </a:solidFill>
              </a:defRPr>
            </a:pPr>
            <a:r>
              <a:t>Cartagena de Indias (2012–2027) · Evaluación Multifuente de Metas, Acción y Resultados</a:t>
            </a:r>
          </a:p>
          <a:p>
            <a:br/>
            <a:pPr>
              <a:defRPr sz="1400">
                <a:solidFill>
                  <a:srgbClr val="F0F4F8"/>
                </a:solidFill>
              </a:defRPr>
            </a:pPr>
            <a:r>
              <a:t>Documento Oficial de Soporte para la Formulación de Política Pública (POLIS)</a:t>
            </a:r>
            <a:br/>
            <a:r>
              <a:t>Fecha de Corte: 27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Resumen Ejecutivo y Marco Conceptual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Enfoque de Seguridad Humana (ONU) y Rigor Metodológico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de Seguridad Humana 2026 · Corte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B2545"/>
                </a:solidFill>
              </a:defRPr>
            </a:pPr>
            <a:r>
              <a:t>Objetivo del Diagnóstico:</a:t>
            </a:r>
          </a:p>
          <a:p>
            <a:pPr>
              <a:defRPr sz="1300">
                <a:solidFill>
                  <a:srgbClr val="5D6978"/>
                </a:solidFill>
              </a:defRPr>
            </a:pPr>
            <a:r>
              <a:t>• Evaluar si las prioridades de los 8 Planes de Desarrollo (PDD/PDL) se convirtieron en bienes y servicios efectivos que impactaron la calidad de vida en Cartagena.</a:t>
            </a:r>
          </a:p>
          <a:p>
            <a:br/>
            <a:pPr>
              <a:defRPr b="1" sz="1600">
                <a:solidFill>
                  <a:srgbClr val="0B2545"/>
                </a:solidFill>
              </a:defRPr>
            </a:pPr>
            <a:r>
              <a:t>Los Tres Niveles de la Evidencia:</a:t>
            </a:r>
          </a:p>
          <a:p>
            <a:pPr>
              <a:defRPr sz="1300">
                <a:solidFill>
                  <a:srgbClr val="5D6978"/>
                </a:solidFill>
              </a:defRPr>
            </a:pPr>
            <a:r>
              <a:t>1. La Apuesta: Metas y líneas estratégicas formuladas en los PDD distritales y PDL locales (4.637 metas integradas).</a:t>
            </a:r>
            <a:br/>
            <a:r>
              <a:t>2. La Respuesta: Actividades ejecutadas en planes de acción (27.592) y recursos financieros pagados vía proyectos BPIN.</a:t>
            </a:r>
            <a:br/>
            <a:r>
              <a:t>3. El Resultado: Comportamiento medido de tasas delictivas, pobreza, salud, ambiente y bienestar ciudadano.</a:t>
            </a:r>
          </a:p>
          <a:p>
            <a:br/>
            <a:pPr>
              <a:defRPr b="1" sz="1500">
                <a:solidFill>
                  <a:srgbClr val="E77B4C"/>
                </a:solidFill>
              </a:defRPr>
            </a:pPr>
            <a:r>
              <a:t>Regla Metodológica Inviolable: Correlación ≠ Causalidad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Una reducción en homicidios o pobreza no se atribuye automáticamente al plan vigente sin aislar factores exógenos y macroeconómicos.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Fuentes Oficiales Procesadas y Trazabilidad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Banco reproducible de datos normalizados con huella SHA-256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de Seguridad Humana 2026 · Corte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B2545"/>
                </a:solidFill>
              </a:defRPr>
            </a:pPr>
            <a:r>
              <a:t>Ecosistema de Datos Integrado: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• Medicina Legal (2015–2024): Homicidios (411 en 2024), violencia intrafamiliar (323), interpersonal, sexual y vial.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• Policía Nacional / MinDefensa: Homicidios policiales (381), hurtos (comercio, casas, motos) y extorsión.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• DANE (GEIH, ECSC, SAE): Pobreza monetaria (34,6% en 2025), desempleo (14,14%), informalidad (50,2%) y FIES.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• DNP / TerriData: Incidencia dengue (713/100k hab), violencia y variables sectoriales.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• Unidad para las Víctimas (RUV): 522 agregados por hecho victimizante e índice de riesgo municipal IRV.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• Ambientales (IDEAM / INS): Monitoreo SISAIRE de calidad de aire e índice IRCA de agua potable (2,8%).</a:t>
            </a:r>
          </a:p>
        </p:txBody>
      </p:sp>
      <p:pic>
        <p:nvPicPr>
          <p:cNvPr id="7" name="Picture 6" descr="g01_cober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493776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Evolución Global de la Agenda en Planes de Acción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Distribución de actividades en los siete ejes de Seguridad Humana (2018–2025)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de Seguridad Humana 2026 · Corte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B2545"/>
                </a:solidFill>
              </a:defRPr>
            </a:pPr>
            <a:r>
              <a:t>Hallazgos de Composición: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• Crecimiento en Seguridad Económica: Aumento de +1,85 puntos porcentuales por año en planes de acción, reflejando prioridad en empleo y superación de pobreza.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• Seguridad Comunitaria Dominante: Concentra más del 40% del volumen documental (programas de recreación, juventud, cultura e inclusión).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• Seguridad Personal Estable: Pasó del 22,0% al 14,4% del total de actividades, orientándose hacia inversión en tecnología de control.</a:t>
            </a:r>
          </a:p>
        </p:txBody>
      </p:sp>
      <p:pic>
        <p:nvPicPr>
          <p:cNvPr id="7" name="Picture 6" descr="g02_composi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621792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Dimensión 1: Seguridad Personal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Análisis de metas, actividades e indicadores de resultado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de Seguridad Humana 2026 · Corte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Puntos Clave del Diagnóstico: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Homicidios: 411 en 2024 (Medicina Legal) vs. 427 en 2023. Tasa actual: 38,79 por 100.000 hab.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Policía Nacional reporta 381 registros para 2024: universos metodológicos distintos que deben analizarse en paralelo.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Hurtos: Fuerte incremento en hurto a motocicletas (503 en 2023 → 665 en 2024); baja en residencias (618 → 481).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Extorsión: Subió de 197 a 382 casos reportados en los registros del archivo compartido.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Reto: Articular equipamiento tecnológico con focalización en corredores críticos.</a:t>
            </a:r>
          </a:p>
        </p:txBody>
      </p:sp>
      <p:pic>
        <p:nvPicPr>
          <p:cNvPr id="7" name="Picture 6" descr="g_ej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486400" cy="23724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Dimensión 2: Seguridad Comunitaria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Análisis de metas, actividades e indicadores de resultado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de Seguridad Humana 2026 · Corte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Puntos Clave del Diagnóstico: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Mayor volumen de metas: Representa el 53,9% de las metas del PDD 2024–2027.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Violencia intrafamiliar: Medicina Legal registra 323 casos en 2024; Policía registra 3.412 denuncias.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Exámenes por presunto delito sexual: 430 en 2024 (baja frente a 500 en 2023).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Sensibilidad financiera: La inversión reportada depende fuertemente de auditoría a expedientes BPIN comunitarios.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Reto: Fortalecer comisarías de familia y casas de justicia en Localidades 2 y 3.</a:t>
            </a:r>
          </a:p>
        </p:txBody>
      </p:sp>
      <p:pic>
        <p:nvPicPr>
          <p:cNvPr id="7" name="Picture 6" descr="g_ej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486400" cy="23724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Dimensión 3: Seguridad Económica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Análisis de metas, actividades e indicadores de resultado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de Seguridad Humana 2026 · Corte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Puntos Clave del Diagnóstico: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Pobreza monetaria: Descenso favorable del 42,8% (2023) al 41,1% (2024) y 34,6% (2025).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Desocupación: Repunte en el corte trimestral de fin de año, pasando del 10,94% (2024) al 14,14% (2025).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Informalidad: Se sostiene alta en 50,20% en 2025.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Diagnóstico integral: Coexisten avances en ingreso familiar con vulnerabilidades en empleo formal.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Reto: Programas de empleo formal, microcrédito y transición productiva incluyente.</a:t>
            </a:r>
          </a:p>
        </p:txBody>
      </p:sp>
      <p:pic>
        <p:nvPicPr>
          <p:cNvPr id="7" name="Picture 6" descr="g_ej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486400" cy="23724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Dimensión 4: Seguridad Alimentaria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Análisis de metas, actividades e indicadores de resultado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de Seguridad Humana 2026 · Corte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Puntos Clave del Diagnóstico: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Escala de Inseguridad Alimentaria (FIES SAE): 28,10% en 2024 (IC 95%: 23,42–32,78%).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Tendencia: El dato central aumentó frente al 22,15% de 2022, pero con intervalos estadísticos superpuestos.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Nutrición infantil: Se precisa seguimiento a indicadores de peso/talla y prevalencia de desnutrición.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Programas institucionales: El PAE y centros comunitarios constituyen la primera línea de protección nutricional.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Reto: Asegurar continuidad y cobertura efectiva en sectores vulnerables.</a:t>
            </a:r>
          </a:p>
        </p:txBody>
      </p:sp>
      <p:pic>
        <p:nvPicPr>
          <p:cNvPr id="7" name="Picture 6" descr="g_ej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486400" cy="23724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Dimensión 5: Seguridad en Salud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Análisis de metas, actividades e indicadores de resultado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de Seguridad Humana 2026 · Corte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Puntos Clave del Diagnóstico: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Salud mental: Suicidios médico legales disminuyeron de 55 casos (2023) a 33 (2024).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Epidemiología: Alerta por brote de dengue en 2024 (713,24 casos por 100.000 hab. en TerriData).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Lesiones de tránsito: 632 casos en 2024 frente a 740 en 2023.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Articulación sectorial: La salud humana requiere cruces inmediatos con saneamiento e infraestructura vial.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Reto: Vigilancia epidemiológica temprana y centros de escucha comunitaria.</a:t>
            </a:r>
          </a:p>
        </p:txBody>
      </p:sp>
      <p:pic>
        <p:nvPicPr>
          <p:cNvPr id="7" name="Picture 6" descr="g_ej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486400" cy="23724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Dimensión 6: Seguridad Ambiental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Análisis de metas, actividades e indicadores de resultado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de Seguridad Humana 2026 · Corte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Puntos Clave del Diagnóstico: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Agua potable (IRCA): Calidad favorable en cabecera urbana (0,3% en 2023 y 2,8% en 2024).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Brecha urbano-rural: Zona insular y corregimental requiere ampliación de redes y continuidad.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Aire (SISAIRE): Niveles de material particulado monitoreados por estaciones en corredores industriales.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Riesgo climático: Inundaciones por mareas y lluvias exigen culminación del Plan Maestro de Drenajes Pluviales.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Reto: Adaptación climática con infraestructura verde y canalizaciones seguras.</a:t>
            </a:r>
          </a:p>
        </p:txBody>
      </p:sp>
      <p:pic>
        <p:nvPicPr>
          <p:cNvPr id="7" name="Picture 6" descr="g_ej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486400" cy="23724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Dimensión 7: Seguridad Política e Institucional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Análisis de metas, actividades e indicadores de resultado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de Seguridad Humana 2026 · Corte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Puntos Clave del Diagnóstico: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Víctimas del conflicto: RUV registra 522 hechos históricos; índice de riesgo IRV en 'Medio Bajo'.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Participación ciudadana: 37 Mesas de Diálogo territoriales activas para la construcción de acuerdos.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Garantía de Devolución de Razones: Cada aporte ciudadano cuenta con sustentación técnica y respuesta formal.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Transparencia: Blindaje con hash criptográfico SHA-256 en actas de concertación ciudadana.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Reto: Preservar memoria social y rendición de cuentas inalterable.</a:t>
            </a:r>
          </a:p>
        </p:txBody>
      </p:sp>
      <p:pic>
        <p:nvPicPr>
          <p:cNvPr id="7" name="Picture 6" descr="g_ej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486400" cy="23724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Triada de Gestión y Eficiencia de Recursos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Articulación PDD ↔ Plan de Acción ↔ Proyectos BPIM (DEA)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de Seguridad Humana 2026 · Corte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B2545"/>
                </a:solidFill>
              </a:defRPr>
            </a:pPr>
            <a:r>
              <a:t>Resultados del Análisis DEA y Triada: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• 4.637 metas sistematizadas en los 8 planes (5 PDD + 3 PDL) con homologación al catálogo DNP.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• 27.592 actividades evaluadas con seguimiento a apropiación, compromiso y pago efectivo.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• Eficiencia de conversión: Se identificaron sectores con alta ejecución financiera pero baja trazabilidad en bienes finales, y áreas de alto rendimiento social.</a:t>
            </a:r>
          </a:p>
        </p:txBody>
      </p:sp>
      <p:pic>
        <p:nvPicPr>
          <p:cNvPr id="7" name="Picture 6" descr="g05_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669280" cy="38953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Conclusiones y Próximos Pasos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De la Fase 1 (Diagnóstico) a la Fase 2 (Formulación MGA)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de Seguridad Humana 2026 · Corte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B2545"/>
                </a:solidFill>
              </a:defRPr>
            </a:pPr>
            <a:r>
              <a:t>Conclusiones Estratégicas:</a:t>
            </a:r>
          </a:p>
          <a:p>
            <a:pPr>
              <a:defRPr sz="1300">
                <a:solidFill>
                  <a:srgbClr val="5D6978"/>
                </a:solidFill>
              </a:defRPr>
            </a:pPr>
            <a:r>
              <a:t>1. Diagnóstico Sólido: Se cuenta con una línea base robusta que supera interpretaciones unidimensionales y refleja la complejidad del territorio.</a:t>
            </a:r>
            <a:br/>
            <a:r>
              <a:t>2. Priorización Evidenciada: Las 3 prioridades críticas identificadas son (a) contención de hurtos y extorsión, (b) informalidad laboral y pobreza residual, y (c) seguridad alimentaria y dengue.</a:t>
            </a:r>
            <a:br/>
            <a:r>
              <a:t>3. Plataforma POLIS Habilitada: El motor de alternativas de solución y el marco lógico (MGA) se encuentran listos para abrir la formulación participativa y deliberación en las 37 mesas.</a:t>
            </a:r>
          </a:p>
          <a:p>
            <a:br/>
            <a:pPr>
              <a:defRPr b="1" sz="1500">
                <a:solidFill>
                  <a:srgbClr val="E77B4C"/>
                </a:solidFill>
              </a:defRPr>
            </a:pPr>
            <a:r>
              <a:t>Próximo Paso: Habilitación de la Fase 2 en la Plataforma Distrital</a:t>
            </a:r>
          </a:p>
          <a:p>
            <a:pPr>
              <a:defRPr sz="1300">
                <a:solidFill>
                  <a:srgbClr val="5D6978"/>
                </a:solidFill>
              </a:defRPr>
            </a:pPr>
            <a:r>
              <a:t>El sistema POLIS activará el Banco de Alternativas y la matriz de formulación con control de versiones y participación ciudadana vinculante.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