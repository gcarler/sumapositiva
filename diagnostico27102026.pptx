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DIAGNÓSTICO MULTIFUENTE DE SEGURIDAD HUMANA</a:t>
            </a:r>
          </a:p>
          <a:p>
            <a:pPr>
              <a:defRPr sz="1900">
                <a:solidFill>
                  <a:srgbClr val="00A6A0"/>
                </a:solidFill>
              </a:defRPr>
            </a:pPr>
            <a:r>
              <a:t>Cartagena de Indias · Integración Completa de Fuentes Oficiales, Triada y 8 Planes (2012–2027)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Bases Procesadas: DANE · Medicina Legal · Policía Nacional · Fiscalía SPOA · TerriData DNP · Unidad Víctimas (RUV) · ICBF · IDEAM · INS · Procuraduría</a:t>
            </a:r>
            <a:br/>
            <a:r>
              <a:t>Fecha de Corte: 27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Ecosistema de Fuentes Oficiales Procesadas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Banco reproducible de 28 conjuntos de datos y 2.340 observaciones normalizadas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Cobertura por Entidad Custodia: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Medicina Legal: 7 series de violencia y daño físico (2015–2024).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Policía Nacional: 7 conjuntos de delitos, hurtos y extorsión (2010–2026).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Fiscalía General (SPOA): Noticias criminales y procesos penales ingresados.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DANE: Pobreza monetaria, mercado laboral GEIH, ECSC y FIES experimental SAE.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DNP / TerriData: 82 observaciones de 10 indicadores sectoriales territoriales.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Unidad para las Víctimas: 522 hechos RUV, índice de riesgo IRV e indemnizaciones.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ICBF / SUIN: Primera infancia, unidades de servicio y nutrición.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Ambientales: IDEAM SISAIRE (aire) e INS SIVICAP (agua potable IRCA).</a:t>
            </a:r>
          </a:p>
        </p:txBody>
      </p:sp>
      <p:pic>
        <p:nvPicPr>
          <p:cNvPr id="7" name="Picture 6" descr="f01_ecosistema_fu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486400" cy="2593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Fuentes de Seguridad: Medicina Legal vs. Policía Nacional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Cotejo de homicidios, hurtos discriminados y extorsión (2018–2024)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Hallazgos de la Evidencia: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Homicidios en Medicina Legal: 411 en 2024 vs. 427 en 2023. Tasa de 38,79 por 100k hab. (Persiste sobre el nivel de 2019).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Divergencia Policial: Policía registra 381 homicidios en 2024. Criterio técnico: NO promediar universos diferentes.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Hurto a Motocicletas: Disparo crítico al pasar de 503 (2023) a 665 (2024), un incremento del +32%.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Hurto a Residencias: Reducción positiva de 618 a 481 casos.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Extorsión: Duplicada en registros policiales pasando de 197 a 382 casos anuales.</a:t>
            </a:r>
          </a:p>
        </p:txBody>
      </p:sp>
      <p:pic>
        <p:nvPicPr>
          <p:cNvPr id="7" name="Picture 6" descr="f02_seguridad_justicia_cr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3. Fuentes de Género y Familia: Medicina Legal vs. Policía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Violencia intrafamiliar y exámenes periciales por presunto delito sexual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Comparativo de Universos: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Brecha de Captura: Policía capta más de 3.000 llamadas/denuncias anuales (3.047 en 2024); Medicina Legal valora 323 casos de lesiones dictaminadas.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Violencia de Pareja: El anuario distrital añade 673 casos específicos de pareja que no deben diluirse.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Delitos Sexuales: Medicina Legal realizó 430 exámenes en 2024, reduciendo frente a los 500 de 2023.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Conclusión Técnica: Se requiere una ruta única interinstitucional que garantice protección cautelar antes del dictamen forense.</a:t>
            </a:r>
          </a:p>
        </p:txBody>
      </p:sp>
      <p:pic>
        <p:nvPicPr>
          <p:cNvPr id="7" name="Picture 6" descr="f03_violencia_genero_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4. Fuentes DANE: Pobreza Monetaria y Mercado de Trabajo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Evolución de la pobreza (2021–2025) y tensiones laborales de la GEIH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Lectura Conjunta DANE: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Pobreza Monetaria: Descenso sostenido del 47,5% (2021) al 42,8% (2023), 41,1% (2024) y 34,6% (2025).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Desocupación Trimestral: Repunte en el corte octubre-diciembre al pasar de 10,94% (2024) a 14,14% (2025).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Informalidad Laboral: Afecta a la mitad de los ocupados (50,20% en 2025).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Conclusión Económica: La caída de pobreza monetaria no elimina la fragilidad laboral; los ingresos son vulnerables ante choques externos.</a:t>
            </a:r>
          </a:p>
        </p:txBody>
      </p:sp>
      <p:pic>
        <p:nvPicPr>
          <p:cNvPr id="7" name="Picture 6" descr="f04_dane_pobreza_mercado_labo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5. Fuentes DANE: Victimización Oculta y Escala de Hambre (FIES)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Encuesta ECSC y estimación experimental SAE de áreas pequeñas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Señales de Vulnerabilidad Subyacente: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Cifra Oculta (ECSC): El 74,60% de las víctimas de delitos en Cartagena NO denuncia formalmente. La caída de denuncias puede reflejar desconfianza y no baja del delito.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Percepción de Inseguridad: 75,11% de los ciudadanos manifiesta sentirse inseguro en la ciudad.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Inseguridad Alimentaria FIES (SAE): Se estima en 28,10% en 2024 (IC 95%: 23,42–32,78%), frente al 22,15% en 2022.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Rigor Estadístico: Los intervalos de confianza se solapan; no puede proclamarse un cambio estadísticamente probado sin microdatos directos.</a:t>
            </a:r>
          </a:p>
        </p:txBody>
      </p:sp>
      <p:pic>
        <p:nvPicPr>
          <p:cNvPr id="7" name="Picture 6" descr="f05_dane_ecsc_seguridad_hamb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6. Fuentes de Víctimas: RUV, IRV e Indemnizaciones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Registro Único de Víctimas e Índice de Riesgo Municipal (2012–2026)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Impacto del Conflicto en Cartagena: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Desplazamiento Forzado: Hecho victimizante dominante con 21.341 registros históricos radicados.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Amenazas y Homicidios: 10.818 amenazas y 1.910 homicidios en el marco del conflicto.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Índice de Riesgo IRV: Se mantiene estable en rango 'Medio Bajo' (0,134 en 2025).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Indemnizaciones: 36 observaciones consolidadas (2012–2023) por más de $150.000 millones COP de reparación nacional.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Exclusión Metodológica: 2024 se excluyó por discrepancias técnicas entre capas oficiales de la Unidad.</a:t>
            </a:r>
          </a:p>
        </p:txBody>
      </p:sp>
      <p:pic>
        <p:nvPicPr>
          <p:cNvPr id="7" name="Picture 6" descr="f06_unidad_victimas_ruv_i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7. Fuentes DNP TerriData y Sanitarias/Ambientales (INS e IDEAM)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Alertas epidemiológicas, calidad de agua potable (IRCA) e inundaciones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Alertas Territoriales DNP: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Brote Epidémico de Dengue: Disparo de 242,31 a 713,24 casos por 100.000 hab. en 2024 en TerriData.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Calidad del Agua (IRCA): 2,8% en 2024 (nivel sin riesgo en cabecera urbana).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Brecha Rural e Insular: El dato urbano oculta privaciones críticas de acueducto en corregimientos e islas.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Riesgo de Inundación: Eventos pluviales recurrentes que exigen acelerar obras de drenajes.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Calidad del Aire: Estaciones SISAIRE reportan concentraciones moderadas en zonas industriales.</a:t>
            </a:r>
          </a:p>
        </p:txBody>
      </p:sp>
      <p:pic>
        <p:nvPicPr>
          <p:cNvPr id="7" name="Picture 6" descr="f07_dnp_terridata_salud_amb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8. Fuentes Sociales e Institucionales: ICBF, Procuraduría y Defensoría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Protección a la niñez, demandas ciudadanas PQRSDF y Alertas Tempranas SAT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Demanda y Protección Institucional: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ICBF Primera Infancia: 615 hogares comunitarios, 42 centros de desarrollo infantil y 28 puntos de Bienestarina.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Procuraduría General: 323 radicaciones en 2024 (179 derechos de petición, 109 quejas a servidores y 35 reclamos).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Defensoría del Pueblo (SAT): Alertas 001-17 y 002-20 activas por presencia de estructuras multicrimen en zonas periurbanas e insulares.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Conclusión Institucional: La protección ciudadana exige responder oportunamente a las alertas preventivas.</a:t>
            </a:r>
          </a:p>
        </p:txBody>
      </p:sp>
      <p:pic>
        <p:nvPicPr>
          <p:cNvPr id="7" name="Picture 6" descr="f08_icbf_procuraduria_defens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9. La Respuesta Gubernamental: Triada PDD ↔ PA ↔ BPIM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Auditoría de 8 planes de desarrollo (4.637 metas) y 27.592 actividades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Sistematización de la Gestión Pública: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8 Planes Evaluados: 5 PDD distritales (2012–2027) y 3 Planes Locales (PDL 2024–2027).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4.637 Metas Clasificadas: 53,9% en seguridad comunitaria, 13,5% en seguridad personal y 11,2% en económica.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27.592 Actividades de Planes de Acción: Monitoreo a compromisos y pagos efectivos de proyectos BPIN.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Eficiencia DEA: Análisis de envoltura de datos para medir qué dependencias convierten presupuesto en productos reales.</a:t>
            </a:r>
          </a:p>
          <a:p>
            <a:pPr>
              <a:defRPr sz="1150">
                <a:solidFill>
                  <a:srgbClr val="5D6978"/>
                </a:solidFill>
              </a:defRPr>
            </a:pPr>
            <a:r>
              <a:t>• Advertencia Técnica: Un BPIN anómalo de 2025 ($1,4 billones) debe auditarse antes de asumir un salto financiero comunal.</a:t>
            </a:r>
          </a:p>
        </p:txBody>
      </p:sp>
      <p:pic>
        <p:nvPicPr>
          <p:cNvPr id="7" name="Picture 6" descr="g05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852160" cy="40209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10. Matriz de Contraste: Realidad de las Fuentes vs. Apuestas de Planes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¿Responden los planes de desarrollo a los daños prioritarios medidos en el territorio?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Balance Multidimensional de Correspondencia:</a:t>
            </a:r>
          </a:p>
          <a:p>
            <a:pPr>
              <a:defRPr b="1" sz="1100">
                <a:solidFill>
                  <a:srgbClr val="0B2545"/>
                </a:solidFill>
              </a:defRPr>
            </a:pPr>
            <a:r>
              <a:t>• Seguridad Personal [Alerta Crítica]: </a:t>
            </a:r>
          </a:p>
          <a:p>
            <a:pPr>
              <a:defRPr sz="1050">
                <a:solidFill>
                  <a:srgbClr val="5D6978"/>
                </a:solidFill>
              </a:defRPr>
            </a:pPr>
            <a:r>
              <a:t>   - Fuentes Oficiales: Homicidios sobre 400 casos, alza de extorsión (+94%) y hurto de motos (+32%).</a:t>
            </a:r>
            <a:br/>
            <a:r>
              <a:t>   - Respuesta de Planes: Peso de metas bajó de 20% a 13,5%. Fuerte concentración en compras tecnológicas de vigilancia.</a:t>
            </a:r>
          </a:p>
          <a:p>
            <a:pPr>
              <a:defRPr b="1" sz="1100">
                <a:solidFill>
                  <a:srgbClr val="0B2545"/>
                </a:solidFill>
              </a:defRPr>
            </a:pPr>
            <a:r>
              <a:t>• Seguridad Comunitaria [Alerta Media]: </a:t>
            </a:r>
          </a:p>
          <a:p>
            <a:pPr>
              <a:defRPr sz="1050">
                <a:solidFill>
                  <a:srgbClr val="5D6978"/>
                </a:solidFill>
              </a:defRPr>
            </a:pPr>
            <a:r>
              <a:t>   - Fuentes Oficiales: Violencia intrafamiliar alta (3.047 denuncias policía) y 430 delitos sexuales.</a:t>
            </a:r>
            <a:br/>
            <a:r>
              <a:t>   - Respuesta de Planes: Concentra el 53,9% de las metas, pero con dispersión recreativa y sin ruta unificada de protección.</a:t>
            </a:r>
          </a:p>
          <a:p>
            <a:pPr>
              <a:defRPr b="1" sz="1100">
                <a:solidFill>
                  <a:srgbClr val="0B2545"/>
                </a:solidFill>
              </a:defRPr>
            </a:pPr>
            <a:r>
              <a:t>• Seguridad Económica [Prioridad Positiva]: </a:t>
            </a:r>
          </a:p>
          <a:p>
            <a:pPr>
              <a:defRPr sz="1050">
                <a:solidFill>
                  <a:srgbClr val="5D6978"/>
                </a:solidFill>
              </a:defRPr>
            </a:pPr>
            <a:r>
              <a:t>   - Fuentes Oficiales: Pobreza bajó a 34,6%, pero desempleo subió a 14,14% e informalidad en 50,2%.</a:t>
            </a:r>
            <a:br/>
            <a:r>
              <a:t>   - Respuesta de Planes: Crecimiento sostenido en agenda (+1,85 pp/año). Requiere programas de empleo formal juvenil.</a:t>
            </a:r>
          </a:p>
          <a:p>
            <a:pPr>
              <a:defRPr b="1" sz="1100">
                <a:solidFill>
                  <a:srgbClr val="0B2545"/>
                </a:solidFill>
              </a:defRPr>
            </a:pPr>
            <a:r>
              <a:t>• Seguridad Alimentaria [Brecha Crítica]: </a:t>
            </a:r>
          </a:p>
          <a:p>
            <a:pPr>
              <a:defRPr sz="1050">
                <a:solidFill>
                  <a:srgbClr val="5D6978"/>
                </a:solidFill>
              </a:defRPr>
            </a:pPr>
            <a:r>
              <a:t>   - Fuentes Oficiales: FIES subió a 28,10% en estimación SAE. Riesgo nutricional en niñez.</a:t>
            </a:r>
            <a:br/>
            <a:r>
              <a:t>   - Respuesta de Planes: Cobertura PAE no se traduce automáticamente en seguridad alimentaria en hogares.</a:t>
            </a:r>
          </a:p>
          <a:p>
            <a:pPr>
              <a:defRPr b="1" sz="1100">
                <a:solidFill>
                  <a:srgbClr val="0B2545"/>
                </a:solidFill>
              </a:defRPr>
            </a:pPr>
            <a:r>
              <a:t>• Seguridad en Salud [Alerta Sanitaria]: </a:t>
            </a:r>
          </a:p>
          <a:p>
            <a:pPr>
              <a:defRPr sz="1050">
                <a:solidFill>
                  <a:srgbClr val="5D6978"/>
                </a:solidFill>
              </a:defRPr>
            </a:pPr>
            <a:r>
              <a:t>   - Fuentes Oficiales: Brote de dengue récord (713/100k) frente a mejoras en salud mental (33 suicidios).</a:t>
            </a:r>
            <a:br/>
            <a:r>
              <a:t>   - Respuesta de Planes: Inversión reactiva a epidemias; falta articulación con control de vectores y saneamiento.</a:t>
            </a:r>
          </a:p>
          <a:p>
            <a:pPr>
              <a:defRPr b="1" sz="1100">
                <a:solidFill>
                  <a:srgbClr val="0B2545"/>
                </a:solidFill>
              </a:defRPr>
            </a:pPr>
            <a:r>
              <a:t>• Seguridad Ambiental [Riesgo Estructural]: </a:t>
            </a:r>
          </a:p>
          <a:p>
            <a:pPr>
              <a:defRPr sz="1050">
                <a:solidFill>
                  <a:srgbClr val="5D6978"/>
                </a:solidFill>
              </a:defRPr>
            </a:pPr>
            <a:r>
              <a:t>   - Fuentes Oficiales: Calidad de agua urbana favorable (IRCA 2,8%), pero graves inundaciones y brecha rural.</a:t>
            </a:r>
            <a:br/>
            <a:r>
              <a:t>   - Respuesta de Planes: Obras de drenajes pluviales avanzan con lentitud frente al riesgo de cambio climático.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11. Conclusiones y Transición a la Fase 2 (Formulación de la Política Pública)</a:t>
            </a:r>
          </a:p>
          <a:p>
            <a:pPr>
              <a:defRPr sz="1200">
                <a:solidFill>
                  <a:srgbClr val="00A6A0"/>
                </a:solidFill>
              </a:defRPr>
            </a:pPr>
            <a:r>
              <a:t>De la evidencia empírica multifuente a la definición de objetivos, alternativas y plan de acción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978"/>
                </a:solidFill>
              </a:defRPr>
            </a:pPr>
            <a:r>
              <a:t>POLIS Cartagena · Diagnóstico Multifuente de Seguridad Humana 2026 · Corte: 27 de Octubre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B2545"/>
                </a:solidFill>
              </a:defRPr>
            </a:pPr>
            <a:r>
              <a:t>Conclusiones para la Toma de Decisiones de Política Pública: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1. Diagnóstico Validado e Integral: Cartagena dispone por primera vez de un diagnóstico que no se limita a la actividad de los planes de gobierno, sino que coteja la realidad medida por DANE, Medicina Legal, Policía, Fiscalía, DNP, RUV e ICBF.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2. Tres Frentes de Acción Inmediata: (a) Contención de extorsión y hurto a motocicletas, (b) choque contra la informalidad laboral (50,2%) y el desempleo (14,14%), y (c) control epidemiológico de dengue y vulnerabilidad alimentaria (28,1%).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3. Habilitación de la Fase 2 (Formulación de la Política Pública): El diagnóstico multifuente constituye el insumo empírico vinculante para que las 37 Mesas de Diálogo y los equipos técnicos formulen los ejes estratégicos, alternativas de solución, plan de acción y costeo de la política pública con trazabilidad de fe pública.</a:t>
            </a:r>
          </a:p>
          <a:p>
            <a:pPr>
              <a:defRPr sz="1200">
                <a:solidFill>
                  <a:srgbClr val="5D6978"/>
                </a:solidFill>
              </a:defRPr>
            </a:pPr>
            <a:r>
              <a:t>4. Garantía de Devolución de Razones: Cada iniciativa ciudadana radicada en POLIS será contrastada contra esta evidencia oficial para fundamentar su viabilidad técnica, social y presupuestal.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